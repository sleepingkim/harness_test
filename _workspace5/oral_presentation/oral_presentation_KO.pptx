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비정형 범주형 데이터의 의미적 표준화
로컬 LLM과 RAG를 활용하여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DD8E6"/>
                </a:solidFill>
              </a:rPr>
              <a:t>서울시 공구대여 데이터 공구명 표준화 사례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신홍철 (Hongchul Shin)
UST-KIST HDI 연구실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DD8E6"/>
                </a:solidFill>
              </a:rPr>
              <a:t>KIST School, UST 2026 Academic Workshop  |  3분 구두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문제 정의: 비표준 표기로 가득 찬 공공 데이터베이스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같은 공구 — 수십 가지 이름 — 하나의 손상된 데이터베이스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30초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드릴비트세트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1109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기리셋트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3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giri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5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1693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기리셑트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7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1985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drill bit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해머드릴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87451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91109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함마드릴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37743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4140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함마 드릴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88035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91693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HAMMER DRILL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38327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41985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함마드릴기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파이프렌치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187451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191109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PIPE렌치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237743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4140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파이프 렌치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88035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91693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pipe wrench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5029200" cy="4114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422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비표준 항목: 3,352개   |   표준 공구명: 160종   |   표준명당 약 21개 별칭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1143000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6000"/>
                </a:solidFill>
              </a:rPr>
              <a:t>⚠  비표준화 → 재고 집계 오류, 검색 실패, 통계 왜곡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신홍철 (Hongchul Shin)  |  UST 2026 Academic Workshop  |  Slide 1/6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왜 어려운가? — 5가지 오류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오류의 78%가 5가지 체계적 패턴 — 단순 규칙으로는 해결 불가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25초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오탈자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71016"/>
            <a:ext cx="501440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9048" y="12344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33.9%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경랑몽키, 스판너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09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브랜드 혼입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46504"/>
            <a:ext cx="2292723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7363" y="17099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15.5%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099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보쉬전동드릴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85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동력원 명시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221992"/>
            <a:ext cx="1612302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6942" y="218541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10.9%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85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유선전동드릴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609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영문·약어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697480"/>
            <a:ext cx="133125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5898" y="266090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9.0%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6090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HSS드릴비트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36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속성 기입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172968"/>
            <a:ext cx="1301675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6315" y="31363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8.8%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363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180mm그라인더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1143000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74903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상위 5개 유형 합계: 78.1%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60520"/>
            <a:ext cx="1143000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06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</a:rPr>
              <a:t>⚠  일본어 잔재 (4.6%):  기리 / 뺀치 / 함마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음운 단절 → 동의어 사전 없이 자동화 불가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신홍철 (Hongchul Shin)  |  UST 2026 Academic Workshop  |  Slide 2/6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제안 방법: RAG v2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베이스라인 대비 세 가지 핵심 업그레이드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35초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560320" cy="7772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입력
(공구명)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325880"/>
            <a:ext cx="2560320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검색
(상위 k=15 후보)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2560320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LLM 판단
(로컬 모델)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325880"/>
            <a:ext cx="2560320" cy="7772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표준 공구명
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2704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52704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52704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128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77B4"/>
                </a:solidFill>
              </a:rPr>
              <a:t>LLM 실패 시  ▼  Fallback: RAG 1위 후보 자동 반환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2286000" cy="347472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7797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구성 요소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743200"/>
            <a:ext cx="4114800" cy="34747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27797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베이스라인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743200"/>
            <a:ext cx="530352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7797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RAG v2 개선 버전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90672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13639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임베딩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3090672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313639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MiniLM (384차원)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090672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313639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BGE-m3-ko (1024차원)  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1129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55701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검색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511296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24912" y="3557016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FAISS 단독,  k=5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511296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355701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BM25 40% + FAISS 60%,  k=15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31920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977640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안전장치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931920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24912" y="3977640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931920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397764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Fallback (1위 자동 반환)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신홍철 (Hongchul Shin)  |  UST 2026 Academic Workshop  |  Slide 3/6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결과: RAG가 정확도를 바꾼다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RAG는 선택이 아니라 필수 — 9%와 88%의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40초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gemma4:e4b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316736"/>
            <a:ext cx="1052291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 단독 27.4%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74520"/>
            <a:ext cx="3397672" cy="25603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130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A02C"/>
                </a:solidFill>
              </a:rPr>
              <a:t>RAG  88.47% ★ 최우수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6552" y="15544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+61.1pp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gemma3:4b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596896"/>
            <a:ext cx="883310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 단독 23.0%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154680"/>
            <a:ext cx="3244437" cy="2560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410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77B4"/>
                </a:solidFill>
              </a:rPr>
              <a:t>RAG  84.48%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3317" y="2834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+61.5pp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exaone3.5:7.8b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877056"/>
            <a:ext cx="361005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133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 단독 9.4%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434840"/>
            <a:ext cx="3040123" cy="2560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4690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77B4"/>
                </a:solidFill>
              </a:rPr>
              <a:t>RAG  79.16%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9003" y="4114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+69.8pp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12080"/>
            <a:ext cx="7132320" cy="713232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257800"/>
            <a:ext cx="6949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DeepSeek 역설:  한국어 생성 능력  0%  (LLM 단독)  →  RAG 적용 후  78.05%
→  RAG가 언어 능력 자체의 한계를 우회한다.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* 451개 테스트 샘플 · Exact Match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신홍철 (Hongchul Shin)  |  UST 2026 Academic Workshop  |  Slide 4/6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무엇이 성능을 결정하는가? — 임베딩이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같은 LLM, 다른 파이프라인 — +22~27 퍼센트포인트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30초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347472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624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25880"/>
            <a:ext cx="4114800" cy="34747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624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베이스라인  (MiniLM + FAISS k=5)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25880"/>
            <a:ext cx="530352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3624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RAG v2 개선 버전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73352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7190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granite4.1:8b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73352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71907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55.21%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673352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171907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</a:rPr>
              <a:t>82.48%  (+27.3pp)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9397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13969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deepseek-r1:8b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093976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2139696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55.21%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93976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213969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</a:rPr>
              <a:t>77.83%  (+22.6pp)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291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성능 향상 요인 분해 (추정):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40"/>
            <a:ext cx="4389120" cy="2926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77B4"/>
                </a:solidFill>
              </a:rPr>
              <a:t>임베딩 교체  (MiniLM → BGE-m3-ko)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03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~15–20pp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03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B4"/>
                </a:solidFill>
              </a:rPr>
              <a:t>← 지배적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06240"/>
            <a:ext cx="1097280" cy="292608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4160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후보 확대  (k=5 → k=15)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60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~3–5pp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63440"/>
            <a:ext cx="1097280" cy="292608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617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BM25 하이브리드 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617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~3–5pp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66360"/>
            <a:ext cx="11430000" cy="658368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21208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</a:rPr>
              <a:t>임베딩 선택이 파이프라인 성능을 지배한다.
LLM 튜닝보다 임베딩 선택이 먼저다.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신홍철 (Hongchul Shin)  |  UST 2026 Academic Workshop  |  Slide 5/6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결론 및 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기억할 세 가지.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20초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264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7B4"/>
                </a:solidFill>
              </a:rPr>
              <a:t>RAG는 필수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44475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LLM 단독 대비 정확도 +61~70pp 향상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21408"/>
            <a:ext cx="502920" cy="502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762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A02C"/>
                </a:solidFill>
              </a:rPr>
              <a:t>소형 모델로 충분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945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4B gemma4:e4b → Exact Match 88.47%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71216"/>
            <a:ext cx="50292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926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077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7B4"/>
                </a:solidFill>
              </a:rPr>
              <a:t>임베딩이 먼저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4436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BGE-m3-ko 교체만으로 +22~27pp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1143000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673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⚠  남은 과제:  일본어 잔재 → 47.1% 오류율  |  동의어 사전 통합 필요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114300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A02C"/>
                </a:solidFill>
              </a:rPr>
              <a:t>"프라이버시 안전, 비용 효율적, 온프레미스 완전 배포 가능."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신홍철 (Hongchul Shin)  |  UST 2026 Academic Workshop  |  Slide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