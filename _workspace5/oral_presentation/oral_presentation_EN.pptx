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Semantic Standardization of Unstructured
Categorical Data Using Local LLMs and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D8E6"/>
                </a:solidFill>
              </a:rPr>
              <a:t>A Case Study on Industrial Tool 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Hongchul Shin
UST-KIST HDI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DD8E6"/>
                </a:solidFill>
              </a:rPr>
              <a:t>KIST School, UST 2026 Academic Workshop  |  3-Minute Oral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Problem: A Public Database Full of Aliases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Same tool — dozens of names — one broken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30s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드릴비트세트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1109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기리셋트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3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giri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5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1693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기리셑트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8327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1985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drill bit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해머드릴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87451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91109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함마드릴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37743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4140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함마 드릴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88035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91693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HAMMER DRILL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38327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41985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함마드릴기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파이프렌치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187451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191109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PIPE렌치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237743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4140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파이프 렌치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2880359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291693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pipe wrench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5029200" cy="4114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1422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Non-standard entries: 3,352   |   Standard names: 160   |   ~21 aliases per standard 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09160"/>
            <a:ext cx="1143000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6000"/>
                </a:solidFill>
              </a:rPr>
              <a:t>⚠  Broken standardization → broken inventory, broken search, broken statistics.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Hongchul Shin  |  UST 2026 Academic Workshop  |  Slide 1/6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Is This Hard? — Five Error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78% of errors fall into 5 systematic patterns — none fixable by simple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25s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Typos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71016"/>
            <a:ext cx="5014408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9048" y="12344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33.9%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경랑몽키, 스판너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09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Brand Inclusion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46504"/>
            <a:ext cx="2292723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7363" y="17099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15.5%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099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보쉬전동드릴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85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Power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221992"/>
            <a:ext cx="1612302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6942" y="218541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10.9%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85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유선전동드릴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609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English / Abbrev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697480"/>
            <a:ext cx="1331258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5898" y="266090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9.0%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66090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HSS드릴비트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36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Attribute Info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172968"/>
            <a:ext cx="1301675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6315" y="313639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8.8%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1363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180mm그라인더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11430000" cy="182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74903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Top 5 Combined: 78.1%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60520"/>
            <a:ext cx="1143000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06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</a:rPr>
              <a:t>⚠  Japanese-derived terms  (4.6%):  기리 / 뺀치 / 함마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Phonetic discontinuity → automation impossible without a thesaurus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Hongchul Shin  |  UST 2026 Academic Workshop  |  Slide 2/6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Our Approach: RAG v2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Three targeted upgrades over the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35s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560320" cy="7772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990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Raw Input
(tool name)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325880"/>
            <a:ext cx="2560320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3990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Retrieval
(Top-k=15)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25880"/>
            <a:ext cx="2560320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990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LLM Judgment
(local model)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325880"/>
            <a:ext cx="2560320" cy="7772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3990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Standard Name
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52704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52704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52704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12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77B4"/>
                </a:solidFill>
              </a:rPr>
              <a:t>LLM fails?  ▼  Fallback: return RAG rank-1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43200"/>
            <a:ext cx="2286000" cy="347472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7797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743200"/>
            <a:ext cx="4114800" cy="34747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27797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Baseline (gray)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743200"/>
            <a:ext cx="530352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7797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RAG v2 Improved (blue)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90672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13639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Embedding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3090672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313639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MiniLM  (384-dim)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090672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313639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BGE-m3-ko  (1024-dim)  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1129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55701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Retrieval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511296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24912" y="3557016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FAISS only,  k=5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511296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1152" y="355701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BM25 40% + FAISS 60%,  k=15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31920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977640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Safety net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931920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24912" y="3977640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931920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397764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Fallback (rank-1 auto-return)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Hongchul Shin  |  UST 2026 Academic Workshop  |  Slide 3/6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Verdict: RAG Transforms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RAG is not optional — it is the difference between 9% and 88%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40s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gemma4:e4b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316736"/>
            <a:ext cx="1052291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572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LLM-only 27.4%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74520"/>
            <a:ext cx="3397672" cy="256032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130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A02C"/>
                </a:solidFill>
              </a:rPr>
              <a:t>RAG  88.47% ★ BEST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6552" y="15544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+61.1pp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gemma3:4b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596896"/>
            <a:ext cx="883310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LLM-only 23.0%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154680"/>
            <a:ext cx="3244437" cy="2560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410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77B4"/>
                </a:solidFill>
              </a:rPr>
              <a:t>RAG  84.48%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3317" y="2834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+61.5pp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exaone3.5:7.8b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877056"/>
            <a:ext cx="361005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133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LLM-only 9.4%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434840"/>
            <a:ext cx="3040123" cy="2560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4690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77B4"/>
                </a:solidFill>
              </a:rPr>
              <a:t>RAG  79.16%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9003" y="41148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+69.8pp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12080"/>
            <a:ext cx="7132320" cy="713232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257800"/>
            <a:ext cx="6949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DeepSeek Paradox:  Korean generation  0%  (LLM-only)  →  78.05%  with RAG
→  RAG compensates for absent language capability.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* 451 test samples · Exact Match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Hongchul Shin  |  UST 2026 Academic Workshop  |  Slide 4/6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Drives Performance? — Embedding Matters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Same LLM. Different pipeline. +22~27 percentage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30s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86000" cy="347472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624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25880"/>
            <a:ext cx="4114800" cy="34747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3624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Baseline  (MiniLM + FAISS k=5)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325880"/>
            <a:ext cx="530352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3624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RAG v2 Improved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73352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71907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granite4.1:8b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73352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71907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55.21%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673352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171907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</a:rPr>
              <a:t>82.48%  (+27.3pp)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9397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13969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deepseek-r1:8b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093976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2139696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55.21%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093976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213969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</a:rPr>
              <a:t>77.83%  (+22.6pp)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291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Performance gain decomposition (estimated):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40"/>
            <a:ext cx="4389120" cy="2926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703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77B4"/>
                </a:solidFill>
              </a:rPr>
              <a:t>Embedding swap  (MiniLM → BGE-m3-ko)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703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~15–20pp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03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B4"/>
                </a:solidFill>
              </a:rPr>
              <a:t>← DOMINANT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06240"/>
            <a:ext cx="1097280" cy="292608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4160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Candidate pool  (k=5 → k=15)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60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~3–5pp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63440"/>
            <a:ext cx="1097280" cy="292608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617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BM25 hybrid  (FAISS → BM25+FAISS)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617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~3–5pp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66360"/>
            <a:ext cx="11430000" cy="658368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21208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</a:rPr>
              <a:t>Embedding selection dominates pipeline performance.
Choose your embedding before tuning your LLM.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Hongchul Shin  |  UST 2026 Academic Workshop  |  Slide 5/6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D8E6"/>
                </a:solidFill>
              </a:rPr>
              <a:t>Three things to remember.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DD8E6"/>
                </a:solidFill>
              </a:rPr>
              <a:t>⏱ 20s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264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081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7B4"/>
                </a:solidFill>
              </a:rPr>
              <a:t>RAG is 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44475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+61–70pp accuracy gain over LLM-only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21408"/>
            <a:ext cx="502920" cy="502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762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579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A02C"/>
                </a:solidFill>
              </a:rPr>
              <a:t>Small model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945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4B gemma4:e4b → 88.47% exact 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71216"/>
            <a:ext cx="50292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926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077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7B4"/>
                </a:solidFill>
              </a:rPr>
              <a:t>Embedding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4436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BGE-m3-ko swap alone → +22–27pp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1143000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673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</a:rPr>
              <a:t>⚠  Remaining challenge:  Japanese-derived terms → 47.1%  |  Synonym dictionary integration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114300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A02C"/>
                </a:solidFill>
              </a:rPr>
              <a:t>"Privacy-safe, cost-effective, and fully deployable on-premise."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Hongchul Shin  |  UST 2026 Academic Workshop  |  Slide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