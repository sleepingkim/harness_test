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121889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61104"/>
            <a:ext cx="12188952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비정형 데이터 정제, LLM이 해결할 수 있는가?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EC6CF"/>
                </a:solidFill>
              </a:rPr>
              <a:t>— 로컬 LLM·RAG 기반 의미론적 표준화: 실험 결과·오류 분석·실무 적용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신홍철  |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D6D7E"/>
                </a:solidFill>
              </a:rPr>
              <a:t>기반: 전문석사 프렉티컴보고서 (RAG v1) + RAG v2 재실험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94360" cy="1051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557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087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</a:rPr>
              <a:t>데이터 정제는 왜 병목인가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2938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더티데이터의 현실과 유형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79191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79191"/>
            <a:ext cx="594360" cy="1051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953511"/>
            <a:ext cx="557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70631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</a:rPr>
              <a:t>LLM+RAG로 어떻게 해결하는가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91255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파이프라인 설계 + v1 한계 극복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41063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41063"/>
            <a:ext cx="594360" cy="1051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215383"/>
            <a:ext cx="557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032503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</a:rPr>
              <a:t>왜 로컬 LLM이어야 하는가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53127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보안·비용·안정성·커스터마이징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02936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202936"/>
            <a:ext cx="594360" cy="1051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477256"/>
            <a:ext cx="557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294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</a:rPr>
              <a:t>속도 vs 정확도 트레이드오프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7150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9개 모델 실험 결과 + 시나리오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41732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417320"/>
            <a:ext cx="594360" cy="1051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691640"/>
            <a:ext cx="557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15087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</a:rPr>
              <a:t>LLM은 어디서 실수하는가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92938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842건 오류 유형화 + 원인 분석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679191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679191"/>
            <a:ext cx="594360" cy="1051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953511"/>
            <a:ext cx="557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770631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</a:rPr>
              <a:t>실제 업무에 적용한다면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191255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구현 로드맵 + 기대 효과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941063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941063"/>
            <a:ext cx="594360" cy="1051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215383"/>
            <a:ext cx="557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032503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</a:rPr>
              <a:t>결론 및 제언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453127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핵심 메시지 + 향후 연구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01. 데이터 정제는 왜 병목인가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CF"/>
                </a:solidFill>
              </a:rPr>
              <a:t>서울시 공구대여 데이터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12064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"Data Scientists spend 60~80% of their time
cleaning data."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D6D7E"/>
                </a:solidFill>
              </a:rPr>
              <a:t>출처: CrowdFlower Survey (2016) / Zhang &amp; Huang (2024) [12]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6D7E"/>
                </a:solidFill>
              </a:rPr>
              <a:t>AI 프로젝트 실패 원인 1위: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182112"/>
            <a:ext cx="51206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"모델이 나빠서"가 아니라 "입력 데이터가 더러워서"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D6D7E"/>
                </a:solidFill>
              </a:rPr>
              <a:t>정선우 외(2023): 더티데이터가 LLM 출력 신뢰도 직접 저하 [14]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371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</a:rPr>
              <a:t>서울시 공구대여 데이터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25603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874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86C1"/>
                </a:solidFill>
              </a:rPr>
              <a:t>11,525건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67004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전체 대여 기록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828800"/>
            <a:ext cx="25603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874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86C1"/>
                </a:solidFill>
              </a:rPr>
              <a:t>3,352개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67004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고유 공구 이름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337560"/>
            <a:ext cx="25603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383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86C1"/>
                </a:solidFill>
              </a:rPr>
              <a:t>~160종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17880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실제 공구 종류 (표준명)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3337560"/>
            <a:ext cx="25603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3383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7E22"/>
                </a:solidFill>
              </a:rPr>
              <a:t>~21가지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17880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1종당 평균 표기 변형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6309360"/>
            <a:ext cx="5943600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01. 비정형 더티데이터의 유형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CF"/>
                </a:solidFill>
              </a:rPr>
              <a:t>Kim et al. (2003) 분류 체계 공구 도메인 적용 [18]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10312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50876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속성·규격 혼입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1031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6D7E"/>
                </a:solidFill>
              </a:rPr>
              <a:t>예시: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'180mm 그라인더'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0175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D6D7E"/>
                </a:solidFill>
              </a:rPr>
              <a:t>크기·규격을 공구명에 포함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417320"/>
            <a:ext cx="2103120" cy="50292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50876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동력원 명시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1920240"/>
            <a:ext cx="21031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6D7E"/>
                </a:solidFill>
              </a:rPr>
              <a:t>예시: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5B"/>
                </a:solidFill>
              </a:rPr>
              <a:t>'충전식전동드릴'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30175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D6D7E"/>
                </a:solidFill>
              </a:rPr>
              <a:t>충전식/유선/에어 등을 이름에 기재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4336" y="1417320"/>
            <a:ext cx="21031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150876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오탈자·오표기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336" y="1920240"/>
            <a:ext cx="21031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6D7E"/>
                </a:solidFill>
              </a:rPr>
              <a:t>예시: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'경랑몽키' → 경량몽키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30175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D6D7E"/>
                </a:solidFill>
              </a:rPr>
              <a:t>입력 오류 또는 구어체 표기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78624" y="1417320"/>
            <a:ext cx="21031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150876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일본어 잔재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78624" y="1920240"/>
            <a:ext cx="21031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8352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6D7E"/>
                </a:solidFill>
              </a:rPr>
              <a:t>예시: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'기리' '뺀치' '노기스'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30175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D6D7E"/>
                </a:solidFill>
              </a:rPr>
              <a:t>건설 현장 일본어 유래 표현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82912" y="1417320"/>
            <a:ext cx="21031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56064" y="150876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세트·복합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82912" y="1920240"/>
            <a:ext cx="21031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6D7E"/>
                </a:solidFill>
              </a:rPr>
              <a:t>예시: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'글루건&amp;글루스틱'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0175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D6D7E"/>
                </a:solidFill>
              </a:rPr>
              <a:t>여러 공구를 하나의 이름으로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→ 수작업 규칙화 불가: 3,352개 변형에 수백 개 규칙 필요 (Glock &amp; Korom, 2025)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02. LLM+RAG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CF"/>
                </a:solidFill>
              </a:rPr>
              <a:t>비정형 공구명 → 160종 표준명 분류 문제로 재정의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2011680" cy="2103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더티 공구명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4884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5E8F5"/>
                </a:solidFill>
              </a:rPr>
              <a:t>'충전식전동드릴 (보쉬 18V)'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4580" y="2240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463040"/>
            <a:ext cx="2011680" cy="21031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5727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임베딩 (GPU 배치)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14884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5E8F5"/>
                </a:solidFill>
              </a:rPr>
              <a:t>dragonkue/BGE-m3-ko
~11초/3,352건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900" y="2240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463040"/>
            <a:ext cx="2011680" cy="210312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15727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하이브리드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14884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5E8F5"/>
                </a:solidFill>
              </a:rPr>
              <a:t>FAISS(60%) + BM25(40%)
후보 15개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5220" y="2240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463040"/>
            <a:ext cx="2011680" cy="2103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5727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LLM 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14884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5E8F5"/>
                </a:solidFill>
              </a:rPr>
              <a:t>Ollama 로컬 추론
JSON 출력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5540" y="2240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61320" y="1463040"/>
            <a:ext cx="2011680" cy="2103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52760" y="15727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표준화 결과 출력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14884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5E8F5"/>
                </a:solidFill>
              </a:rPr>
              <a:t>standard_name + brand
+ power_source + spec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9319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</a:rPr>
              <a:t>RAG v1 vs v2 핵심 차이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97680"/>
            <a:ext cx="228600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159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4297680"/>
            <a:ext cx="384048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431596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RAG v1 (문제)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4297680"/>
            <a:ext cx="3840480" cy="32004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31596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RAG v2 (개선)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17720"/>
            <a:ext cx="228600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6725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벡터 DB 입력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4617720"/>
            <a:ext cx="384048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4672584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386개 정답 쌍 (누수)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4617720"/>
            <a:ext cx="384048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4672584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5B"/>
                </a:solidFill>
              </a:rPr>
              <a:t>160개 표준명 목록만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093208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1480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평가 데이터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5093208"/>
            <a:ext cx="3840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360" y="5148072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동일한 386개 (중복)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5093208"/>
            <a:ext cx="3840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5148072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5B"/>
                </a:solidFill>
              </a:rPr>
              <a:t>457개 — DB와 완전 분리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568696"/>
            <a:ext cx="228600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623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최고 정확도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5568696"/>
            <a:ext cx="384048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0360" y="5623560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97.88% (과대 추정)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5568696"/>
            <a:ext cx="384048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5623560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5B"/>
                </a:solidFill>
              </a:rPr>
              <a:t>88.47% (신뢰 가능)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03. 왜 로컬 LLM이어야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CF"/>
                </a:solidFill>
              </a:rPr>
              <a:t>4가지 핵심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57784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4721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🔒 보안·프라이버시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내부 데이터가 외부 서버로 전송되지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개인정보보호법·정보보안 정책 준수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Amugongo et al. (2025): 의료 RAG에서 로컬 배포 권고 [5]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Belcak et al. (2025): 강력한 데이터 통제 실현 [7]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577840" cy="41148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4721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💰 비용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3,352건: 클라우드 ~$7 → 로컬 ~$0.05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월 100만 건: 클라우드 ~$2,100 → 로컬 ~$15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WINGPT (2025): 규모의 경제 — 로컬 비용 우위 급증 [2]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557784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94106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⚡ 운영 안정성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인터넷 장애 시에도 정상 운영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API Rate Limit 없음, 자유로운 배치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57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Belcak et al. (2025): 오프라인 에이전트 추론 시연 [7]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886200"/>
            <a:ext cx="557784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94106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🔧 커스터마이징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공구 표준 개정 시 RAG DB만 갱신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00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도메인 지식 변경 시 모델 재학습 불필요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57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▪ Ovadia et al. (2023): 업데이트 잦은 도메인에 RAG 우월 [16]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04. 9개 모델 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CF"/>
                </a:solidFill>
              </a:rPr>
              <a:t>Improved 방식 (BGE-m3-ko + BM25 + k=15 + 카테고리)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486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순위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310896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325880"/>
            <a:ext cx="10058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25880"/>
            <a:ext cx="128016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371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정확도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10972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71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속도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325880"/>
            <a:ext cx="137160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371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처리시간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73352"/>
            <a:ext cx="54864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74650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🥇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1673352"/>
            <a:ext cx="310896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17465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202A"/>
                </a:solidFill>
              </a:rPr>
              <a:t>gemma4:e4b (9.6GB)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1673352"/>
            <a:ext cx="100584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40" y="17465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9.6GB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1673352"/>
            <a:ext cx="128016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74650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5B"/>
                </a:solidFill>
              </a:rPr>
              <a:t>88.47%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673352"/>
            <a:ext cx="109728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7465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1.58개/초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1673352"/>
            <a:ext cx="137160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17465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35분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157984"/>
            <a:ext cx="54864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2311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🥈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2157984"/>
            <a:ext cx="310896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223113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gemma3:4b (3.3GB)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2157984"/>
            <a:ext cx="100584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40" y="22311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3.3GB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2157984"/>
            <a:ext cx="128016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22311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86C1"/>
                </a:solidFill>
              </a:rPr>
              <a:t>84.48%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157984"/>
            <a:ext cx="109728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22311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1.77개/초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2157984"/>
            <a:ext cx="137160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223113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31분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642616"/>
            <a:ext cx="548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7157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🥉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2642616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27157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granite4.1:8b (5.3GB)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2642616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40" y="2715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5.3GB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2642616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83480" y="27157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86C1"/>
                </a:solidFill>
              </a:rPr>
              <a:t>82.48%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2642616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27157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1.21개/초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2642616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60920" y="27157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46분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127248"/>
            <a:ext cx="54864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32004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3127248"/>
            <a:ext cx="310896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32004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gemma4:e2b (7.2GB)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0" y="3127248"/>
            <a:ext cx="100584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77640" y="3200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7.2GB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3127248"/>
            <a:ext cx="128016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83480" y="3200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86C1"/>
                </a:solidFill>
              </a:rPr>
              <a:t>80.93%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3127248"/>
            <a:ext cx="109728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32004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1.93개/초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0" y="3127248"/>
            <a:ext cx="137160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60920" y="32004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29분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611880"/>
            <a:ext cx="548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6850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" y="3611880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36850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exaone3.5:7.8b (4.8GB)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31920" y="3611880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77640" y="36850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4.8GB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361188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83480" y="36850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86C1"/>
                </a:solidFill>
              </a:rPr>
              <a:t>79.16%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361188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3640" y="36850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1.23개/초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0" y="36118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60920" y="368503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45분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096512"/>
            <a:ext cx="54864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416966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96512"/>
            <a:ext cx="310896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8680" y="416966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deepseek-r1:1.5b (1.1GB)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31920" y="4096512"/>
            <a:ext cx="100584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77640" y="41696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1.1GB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37760" y="4096512"/>
            <a:ext cx="128016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83480" y="41696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86C1"/>
                </a:solidFill>
              </a:rPr>
              <a:t>78.05%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4096512"/>
            <a:ext cx="109728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63640" y="41696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1.49개/초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15200" y="4096512"/>
            <a:ext cx="137160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60920" y="41696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37분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581144"/>
            <a:ext cx="548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040" y="46542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2960" y="4581144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68680" y="465429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deepseek-r1:8b (5.2GB)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931920" y="4581144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77640" y="46542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5.2GB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37760" y="4581144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983480" y="46542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86C1"/>
                </a:solidFill>
              </a:rPr>
              <a:t>77.83%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17920" y="4581144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63640" y="465429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1.40개/초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0" y="4581144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360920" y="46542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40분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5065776"/>
            <a:ext cx="54864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0040" y="51389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2960" y="5065776"/>
            <a:ext cx="310896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68680" y="51389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exaone3.5:2.4b (1.6GB)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931920" y="5065776"/>
            <a:ext cx="100584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977640" y="51389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1.6GB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937760" y="5065776"/>
            <a:ext cx="128016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983480" y="513892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86C1"/>
                </a:solidFill>
              </a:rPr>
              <a:t>74.06%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17920" y="5065776"/>
            <a:ext cx="109728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263640" y="51389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1.58개/초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315200" y="5065776"/>
            <a:ext cx="137160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360920" y="51389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35분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5550408"/>
            <a:ext cx="548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20040" y="5623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22960" y="5550408"/>
            <a:ext cx="3108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68680" y="56235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granite4.1:3b (2.1GB)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31920" y="5550408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977640" y="5623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2.1GB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937760" y="5550408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983480" y="56235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86C1"/>
                </a:solidFill>
              </a:rPr>
              <a:t>67.85%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217920" y="5550408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263640" y="56235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1.53개/초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15200" y="5550408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360920" y="56235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36분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74320" y="64008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8B5B"/>
                </a:solidFill>
              </a:rPr>
              <a:t>▲ Baseline 대비 +33.26%p 향상 (55.21% → 88.47%)   |   모델 크기 ≠ 성능 — 아키텍처가 중요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04. 속도 vs 정확도 트레이드오프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CF"/>
                </a:solidFill>
              </a:rPr>
              <a:t>MAUT 프레임워크 적용 (Keeney, 1975) [19]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2646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Trade-Off Score  =  α × 정확도  +  (1−α) × 속도_점수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36576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α = 0.75  (정확도 최우선)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36576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7E22"/>
                </a:solidFill>
              </a:rPr>
              <a:t>🥇 gemma4:e4b
🥈 gemma3:4b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6D7E"/>
                </a:solidFill>
              </a:rPr>
              <a:t>추천 사용 시나리오: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148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7202A"/>
                </a:solidFill>
              </a:rPr>
              <a:t>정제 정확도가 비즈니스 핵심
(법적 요건, 고가 부품 관리)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148840"/>
            <a:ext cx="3657600" cy="45720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2219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α = 0.50  (균형)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606040"/>
            <a:ext cx="36576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B5B"/>
                </a:solidFill>
              </a:rPr>
              <a:t>🥇 gemma3:4b
🥈 gemma4:e4b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840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6D7E"/>
                </a:solidFill>
              </a:rPr>
              <a:t>추천 사용 시나리오: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148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7202A"/>
                </a:solidFill>
              </a:rPr>
              <a:t>정확도·처리속도 동등 중요
(일반 업무 데이터 정제)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48840"/>
            <a:ext cx="36576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2219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α = 0.25  (속도 최우선)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606040"/>
            <a:ext cx="36576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7432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C1"/>
                </a:solidFill>
              </a:rPr>
              <a:t>🥇 gemma4:e2b
🥈 gemma3:4b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840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6D7E"/>
                </a:solidFill>
              </a:rPr>
              <a:t>추천 사용 시나리오: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1148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7202A"/>
                </a:solidFill>
              </a:rPr>
              <a:t>대량·실시간 처리 우선
(일일 자동 배치 파이프라인)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309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* Belcak et al. (2025) [7]: 1.1GB deepseek-r1:1.5b → 78% — 소형 모델도 실무 적용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05. LLM은 어디서 실수하는가 — 오류 유형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CF"/>
                </a:solidFill>
              </a:rPr>
              <a:t>9개 모델 842건 오답 분류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06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B2A4A"/>
                </a:solidFill>
              </a:rPr>
              <a:t>842건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전체 오답
(9개 모델 합산)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371600"/>
            <a:ext cx="2606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4173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86C1"/>
                </a:solidFill>
              </a:rPr>
              <a:t>52건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21284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최우수 모델 오답
(gemma4:e4b, 88.47%)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606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4173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</a:rPr>
              <a:t>46.2%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1284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RAG 단계 실패
(구조적 문제)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371600"/>
            <a:ext cx="2606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4173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7E22"/>
                </a:solidFill>
              </a:rPr>
              <a:t>44.2%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21284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LLM 추론 실패
(모델 능력 차이)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017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</a:rPr>
              <a:t>오류 발생 위치: 2단계 구조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228600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547872"/>
            <a:ext cx="21579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더티 공구명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566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D6D7E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3474720"/>
            <a:ext cx="22860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3547872"/>
            <a:ext cx="21579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RAG 검색 (15개 후보 생성)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566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D6D7E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4023360"/>
            <a:ext cx="22860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4096512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C1"/>
                </a:solidFill>
              </a:rPr>
              <a:t>←  단계 1 실패
정답이 후보에 없음
(~25건 고정)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474720"/>
            <a:ext cx="2286000" cy="50292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41848" y="3547872"/>
            <a:ext cx="21579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LLM 분류 (후보 중 선택)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566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D6D7E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4023360"/>
            <a:ext cx="228600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4096512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5B"/>
                </a:solidFill>
              </a:rPr>
              <a:t>←  단계 2 실패
정답이 후보에 있지만 틀림
(모델별 23~120건)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3474720"/>
            <a:ext cx="228600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547872"/>
            <a:ext cx="21579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표준명 출력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3093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핵심 발견:  RAG 누락 ~25건은 모든 모델에서 동일 (구조 문제) / LLM 오선택은 모델에 따라 최대 5배 차이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05. 오류 세부 유형 + 모델 간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CF"/>
                </a:solidFill>
              </a:rPr>
              <a:t>gemma4:e4b 52건 상세 + 전체 모델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gemma4:e4b 오류 세부 유형 (52건)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RAG 검색 실패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874520"/>
            <a:ext cx="380207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0995" y="1828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24건 (46.2%)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328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완전 다른 공구 선택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2578608"/>
            <a:ext cx="1901037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9957" y="25328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12건 (23.1%)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3697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세트·단품 혼동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3282696"/>
            <a:ext cx="1110996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9916" y="32369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C1"/>
                </a:solidFill>
              </a:rPr>
              <a:t>7건 (13.5%)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9410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동력원 분류 오류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3986784"/>
            <a:ext cx="633679" cy="27432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2599" y="39410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5B"/>
                </a:solidFill>
              </a:rPr>
              <a:t>4건 (7.7%)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6451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본체·부속품 혼동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4690872"/>
            <a:ext cx="633679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2599" y="46451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4건 (7.7%)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드릴·드라이버 혼동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5394960"/>
            <a:ext cx="156362" cy="27432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5282" y="5349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6D7E"/>
                </a:solidFill>
              </a:rPr>
              <a:t>1건 (1.9%)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3716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모델별 오류 비교 (RAG 누락 vs LLM 오선택)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810512"/>
            <a:ext cx="192024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184708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모델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1810512"/>
            <a:ext cx="9144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184708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RAG 누락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810512"/>
            <a:ext cx="100584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63456" y="1847088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LLM 오선택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1810512"/>
            <a:ext cx="868680" cy="32004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69296" y="1847088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정확도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130552"/>
            <a:ext cx="1920240" cy="64008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28816" y="2267712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202A"/>
                </a:solidFill>
              </a:rPr>
              <a:t>gemma4:e4b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2130552"/>
            <a:ext cx="914400" cy="64008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2267712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2130552"/>
            <a:ext cx="1005840" cy="64008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63456" y="2267712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</a:rPr>
              <a:t>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20" y="2130552"/>
            <a:ext cx="868680" cy="64008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69296" y="2267712"/>
            <a:ext cx="795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5B"/>
                </a:solidFill>
              </a:rPr>
              <a:t>88.47%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843784"/>
            <a:ext cx="1920240" cy="6400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29809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gemma3:4b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2843784"/>
            <a:ext cx="914400" cy="6400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49056" y="2980944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2843784"/>
            <a:ext cx="1005840" cy="6400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63456" y="2980944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7E22"/>
                </a:solidFill>
              </a:rPr>
              <a:t>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32720" y="2843784"/>
            <a:ext cx="868680" cy="6400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69296" y="2980944"/>
            <a:ext cx="795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8B5B"/>
                </a:solidFill>
              </a:rPr>
              <a:t>84.48%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3557016"/>
            <a:ext cx="1920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8816" y="3694176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granite4.1:8b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3557016"/>
            <a:ext cx="914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49056" y="3694176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25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26880" y="3557016"/>
            <a:ext cx="10058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63456" y="3694176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7E22"/>
                </a:solidFill>
              </a:rPr>
              <a:t>54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32720" y="3557016"/>
            <a:ext cx="868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69296" y="3694176"/>
            <a:ext cx="795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8B5B"/>
                </a:solidFill>
              </a:rPr>
              <a:t>82.48%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4270248"/>
            <a:ext cx="1920240" cy="6400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28816" y="4407408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deepseek-r1:1.5b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12480" y="4270248"/>
            <a:ext cx="914400" cy="6400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49056" y="4407408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25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26880" y="4270248"/>
            <a:ext cx="1005840" cy="6400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63456" y="4407408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7E22"/>
                </a:solidFill>
              </a:rPr>
              <a:t>74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332720" y="4270248"/>
            <a:ext cx="868680" cy="6400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69296" y="4407408"/>
            <a:ext cx="795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8B5B"/>
                </a:solidFill>
              </a:rPr>
              <a:t>78.05%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4983480"/>
            <a:ext cx="1920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28816" y="5120640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202A"/>
                </a:solidFill>
              </a:rPr>
              <a:t>granite4.1:3b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12480" y="4983480"/>
            <a:ext cx="914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49056" y="512064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25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26880" y="4983480"/>
            <a:ext cx="10058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63456" y="512064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7E22"/>
                </a:solidFill>
              </a:rPr>
              <a:t>120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332720" y="4983480"/>
            <a:ext cx="868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69296" y="5120640"/>
            <a:ext cx="795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8B5B"/>
                </a:solidFill>
              </a:rPr>
              <a:t>67.85%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63093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6C1"/>
                </a:solidFill>
              </a:rPr>
              <a:t>→ RAG 개선(~25건 고정 문제) + LLM 프롬프트 특화(세트/단품, 동력원) = 이중 전략 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05. 자주 틀리는 패턴 + 오류 기여 입력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CF"/>
                </a:solidFill>
              </a:rPr>
              <a:t>취약점 심층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반복 오류 사례 (9개 모델 공통)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669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5D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836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몽키스패너 → 스패너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8836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GT: 몽키렌치 / 동의어 혼동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41448"/>
            <a:ext cx="5669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5D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963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L렌치세트 → T렌치세트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4963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GT: 육각렌치세트 / L형·T형 혼동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54096"/>
            <a:ext cx="5669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5D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108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노기스 → (RAG 누락)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108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GT: 버니어캘리퍼스 / 일본어 잔재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66744"/>
            <a:ext cx="5669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5D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216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기리세트 → 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7216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GT: 드릴비트세트 / 일본어+세트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79392"/>
            <a:ext cx="5669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5D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342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강력절단기 → 고속절단기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3342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GT: 볼트컷터 / 절단기 계열 혼동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892040"/>
            <a:ext cx="5669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5D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946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글루건&amp;글루스틱 → 글루스틱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946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GT: 글루건 / 복합명 부속품 선택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504688"/>
            <a:ext cx="5669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5D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559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bosch2(무선) → 전동드릴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5595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GT: 충전드릴 / 무선=충전 미인식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3716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오답 행 입력 유형 분포 (gemma4:e4b, 52건)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828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단순 명사형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874520"/>
            <a:ext cx="3417243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19995" y="18288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32.7%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414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세트·복합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487168"/>
            <a:ext cx="2811126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13878" y="24414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26.9%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0540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브랜드명 혼입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099816"/>
            <a:ext cx="2006454" cy="2560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09206" y="305409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C1"/>
                </a:solidFill>
              </a:rPr>
              <a:t>19.2%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6667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일본어 잔재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712464"/>
            <a:ext cx="2006454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09206" y="366674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19.2%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2793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모델번호 포함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325112"/>
            <a:ext cx="1609344" cy="256032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12096" y="42793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6D7E"/>
                </a:solidFill>
              </a:rPr>
              <a:t>15.4%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892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규격·속성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4937760"/>
            <a:ext cx="1201782" cy="256032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4534" y="4892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5B"/>
                </a:solidFill>
              </a:rPr>
              <a:t>11.5%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5046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</a:rPr>
              <a:t>동력원 명시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5550408"/>
            <a:ext cx="804672" cy="256032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07424" y="55046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5B"/>
                </a:solidFill>
              </a:rPr>
              <a:t>7.7%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3093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* 단순 명사형 오답 17건 — 입력이 단순해도 오탈자·약어로 RAG 실패 또는 LLM 혼동 발생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06. 구현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CF"/>
                </a:solidFill>
              </a:rPr>
              <a:t>오류 유형 분석 기반 4단계 도입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4173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1–2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2743200" cy="38404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8013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정답지(Ground Truth)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231136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▪ 도메인 전문가 + 카탈로그 참조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127248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▪ 500~1,000개 엔트리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023360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▪ 일본어 잔재·오탈자 사전 병행 구축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919472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→ RAG 검색 실패 ~25건 구조 문제 해결 준비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371600"/>
            <a:ext cx="2743200" cy="41148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4173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783080"/>
            <a:ext cx="2743200" cy="38404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18013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기술 스택 설치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231136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▪ Ollama, sentence-transformers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3127248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▪ faiss-cpu, rank-bm25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4023360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▪ Python 환경 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4919472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5B"/>
                </a:solidFill>
              </a:rPr>
              <a:t>→ 로컬 실행 환경 완성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27432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14173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83080"/>
            <a:ext cx="2743200" cy="38404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8013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시범 운영 + 오류 유형 진단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231136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▪ 1,000건 샘플 정확도 측정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127248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▪ 오류 유형 분류: RAG 실패 vs LLM 실패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023360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▪ 본 연구 프레임워크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919472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→ 취약 패턴 파악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371600"/>
            <a:ext cx="27432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2872" y="14173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Month 2+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1783080"/>
            <a:ext cx="2743200" cy="38404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2" y="18013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유형별 개선 + 전체 배치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2231136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▪ RAG 실패: 전처리 사전 확충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3127248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▪ LLM 실패: 세트/단품·동력원 특화 프롬프트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4023360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▪ Human-in-the-Loop: 낮은 신뢰도 항목 검수 [3]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4919472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→ 신규 데이터 자동 파이프라인 연동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06. 기대 효과 및 잔여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CF"/>
                </a:solidFill>
              </a:rPr>
              <a:t>도입 전·후 비교 + 개선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B5B"/>
                </a:solidFill>
              </a:rPr>
              <a:t>기대 효과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1097280" cy="32004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810512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지표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783080"/>
            <a:ext cx="1371600" cy="32004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181051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현재(수작업)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783080"/>
            <a:ext cx="1371600" cy="32004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9776" y="1810512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도입 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783080"/>
            <a:ext cx="1188720" cy="32004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1376" y="1810512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03120"/>
            <a:ext cx="1097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2194560"/>
            <a:ext cx="1024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7202A"/>
                </a:solidFill>
              </a:rPr>
              <a:t>처리 속도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103120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8176" y="219456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7202A"/>
                </a:solidFill>
              </a:rPr>
              <a:t>3~5일/3,000건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103120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9776" y="219456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5B"/>
                </a:solidFill>
              </a:rPr>
              <a:t>35분/3,000건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103120"/>
            <a:ext cx="1188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1376" y="2194560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86C1"/>
                </a:solidFill>
              </a:rPr>
              <a:t>×100+ 향상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61488"/>
            <a:ext cx="109728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" y="2852928"/>
            <a:ext cx="1024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7202A"/>
                </a:solidFill>
              </a:rPr>
              <a:t>인력 투입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2761488"/>
            <a:ext cx="137160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8176" y="2852928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7202A"/>
                </a:solidFill>
              </a:rPr>
              <a:t>담당자 상시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761488"/>
            <a:ext cx="137160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2852928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5B"/>
                </a:solidFill>
              </a:rPr>
              <a:t>최초 정답지만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2761488"/>
            <a:ext cx="11887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51376" y="2852928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86C1"/>
                </a:solidFill>
              </a:rPr>
              <a:t>고정비용화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419856"/>
            <a:ext cx="1097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" y="3511296"/>
            <a:ext cx="1024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7202A"/>
                </a:solidFill>
              </a:rPr>
              <a:t>일관성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3419856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08176" y="3511296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7202A"/>
                </a:solidFill>
              </a:rPr>
              <a:t>담당자 편차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419856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79776" y="3511296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5B"/>
                </a:solidFill>
              </a:rPr>
              <a:t>100% 동일 규칙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419856"/>
            <a:ext cx="1188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51376" y="3511296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86C1"/>
                </a:solidFill>
              </a:rPr>
              <a:t>품질 표준화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078224"/>
            <a:ext cx="109728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" y="4169664"/>
            <a:ext cx="1024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7202A"/>
                </a:solidFill>
              </a:rPr>
              <a:t>정확도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4078224"/>
            <a:ext cx="137160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08176" y="4169664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7202A"/>
                </a:solidFill>
              </a:rPr>
              <a:t>숙련자 ~95%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4078224"/>
            <a:ext cx="137160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79776" y="4169664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5B"/>
                </a:solidFill>
              </a:rPr>
              <a:t>RAG: 74~88%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4078224"/>
            <a:ext cx="1188720" cy="5943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51376" y="4169664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86C1"/>
                </a:solidFill>
              </a:rPr>
              <a:t>자동화 절충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13716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잔여 한계 및 개선 방향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2160" y="1783080"/>
            <a:ext cx="9144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183794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RAG 구조 한계 (~25건)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13055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일본어 잔재·모델번호 입력 → RAG 검색 실패
→ 전처리 레이어 추가로 개선 가능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2971800"/>
            <a:ext cx="9144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0" y="302666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세트·단품 혼동 (13.5%)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331927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복합 공구명에서 주공구 판단 실패
→ 프롬프트 엔지니어링으로 개선 가능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4160520"/>
            <a:ext cx="91440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1538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</a:rPr>
              <a:t>동력원 분류 오류 (7.7%)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450799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충전식=무선 등 동의어 미인식
→ 동의어 사전 추가로 해결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52160" y="5349240"/>
            <a:ext cx="9144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35040" y="540410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대형 모델 실행 불가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569671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</a:rPr>
              <a:t>RTX 5080(17.1GB): 30B+ 모델 0.03개/초
→ 클라우드 또는 대형 GPU 서버 필요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결론 및 제언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73152" cy="1417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① 비정형 데이터 정제는 LLM+RAG로 해결 가능하다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6CF"/>
                </a:solidFill>
              </a:rPr>
              <a:t>Baseline 55% → Improved 88.47% (+33%p)
Kim et al.[18], Zhang &amp; Huang[12], Glock &amp; Korom[10]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97480"/>
            <a:ext cx="73152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706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② 오류 유형 분석이 개선의 핵심이다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6CF"/>
                </a:solidFill>
              </a:rPr>
              <a:t>RAG 누락 46% (구조 문제) + LLM 오선택 44% (추론 문제)
이중 전략: RAG 개선 + LLM 프롬프트 특화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389120"/>
            <a:ext cx="73152" cy="1417320"/>
          </a:xfrm>
          <a:prstGeom prst="rect">
            <a:avLst/>
          </a:prstGeom>
          <a:solidFill>
            <a:srgbClr val="1E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③ 로컬 LLM은 클라우드 API의 실질적 대안이다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6CF"/>
                </a:solidFill>
              </a:rPr>
              <a:t>보안·비용·안정성 모두 우위
Belcak[7], WINGPT[2], Amugongo[5]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1081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EC6CF"/>
                </a:solidFill>
              </a:rPr>
              <a:t>향후 연구:  일본어 전처리 레이어  |  세트/단품 특화 프롬프트  |  정답지 3,352건 전체 확장  |  파인튜닝 비교  |  Human-in-the-Loop 통합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