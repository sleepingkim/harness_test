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0233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42793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Semantic Standardization of Unstructured Categorical Data
Using Local LLMs and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4279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ADD8F7"/>
                </a:solidFill>
                <a:latin typeface="Calibri"/>
              </a:rPr>
              <a:t>A Case Study on Industrial Tool Name Standardization with Open-Source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4279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>
                <a:solidFill>
                  <a:srgbClr val="CFE2FF"/>
                </a:solidFill>
                <a:latin typeface="Calibri"/>
              </a:rPr>
              <a:t>Hongcheol Shin   |   Korea University of Science and Technology (UST)   |   ETRI (Electronics and Telecommunications Research Institute)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023360"/>
            <a:ext cx="438912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4160520"/>
            <a:ext cx="43159680" cy="594360"/>
          </a:xfrm>
          <a:prstGeom prst="rect">
            <a:avLst/>
          </a:prstGeom>
          <a:solidFill>
            <a:srgbClr val="2E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233672"/>
            <a:ext cx="429402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4279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2100">
                <a:solidFill>
                  <a:srgbClr val="1A1A2A"/>
                </a:solidFill>
                <a:latin typeface="Calibri"/>
              </a:rPr>
              <a:t>Unstructured categorical data from manual entry exhibits severe lexical variability, undermining data quality and downstream machine learning. This work proposes a Retrieval-Augmented Generation (RAG) pipeline employing open-source LLMs to semantically standardize industrial tool names from the Seoul Metropolitan Tool Rental Dataset (3,352 unique dirty strings → 160 standard categories). We evaluate 12 open-source LLMs (1.5B–9B) under a baseline RAG (MiniLM-L12, FAISS, k=5) and an improved RAG (BGE-m3-ko embedding, BM25+FAISS hybrid retrieval, k=15, category-augmented prompting). The improved configuration reaches up to 88.47% accuracy (+33.3 pp over baseline ≈55%). We also identify and correct a train/test data leakage flaw in prior work (RAG v1: 97.88% was inflated). Results show that domain-optimized retrieval architecture matters more than raw model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452360"/>
            <a:ext cx="14203680" cy="17190720"/>
          </a:xfrm>
          <a:prstGeom prst="rect">
            <a:avLst/>
          </a:prstGeom>
          <a:solidFill>
            <a:srgbClr val="FDFDFF"/>
          </a:solidFill>
          <a:ln w="9525">
            <a:solidFill>
              <a:srgbClr val="C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843760" y="7452360"/>
            <a:ext cx="14203680" cy="17190720"/>
          </a:xfrm>
          <a:prstGeom prst="rect">
            <a:avLst/>
          </a:prstGeom>
          <a:solidFill>
            <a:srgbClr val="FDFDFF"/>
          </a:solidFill>
          <a:ln w="9525">
            <a:solidFill>
              <a:srgbClr val="C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321760" y="7452360"/>
            <a:ext cx="14203680" cy="17190720"/>
          </a:xfrm>
          <a:prstGeom prst="rect">
            <a:avLst/>
          </a:prstGeom>
          <a:solidFill>
            <a:srgbClr val="FDFDFF"/>
          </a:solidFill>
          <a:ln w="9525">
            <a:solidFill>
              <a:srgbClr val="C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7562088"/>
            <a:ext cx="13874496" cy="594360"/>
          </a:xfrm>
          <a:prstGeom prst="rect">
            <a:avLst/>
          </a:prstGeom>
          <a:solidFill>
            <a:srgbClr val="2E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7635240"/>
            <a:ext cx="13655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1. 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8266176"/>
            <a:ext cx="1372819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Background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Real-world categorical fields entered manually suffer from severe lexical variability. Seoul's public tool rental database contains 3,352 unique tool name strings that collapse to only ~160 real categories (≈21 variants per category on average).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Limitation of Rule-Based Approaches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Regex / morphological analyzers address syntactic errors only. They cannot handle semantic variability: Japanese-derived legacy terms (giri → drill bit), embedded brand/spec attributes, compound nouns, or context-dependent disambiguation.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10689336"/>
            <a:ext cx="13874496" cy="411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0735056"/>
            <a:ext cx="13691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1A3A6B"/>
                </a:solidFill>
                <a:latin typeface="Calibri"/>
              </a:rPr>
              <a:t>Dirty Data Taxonomy (13 sub-types)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0352" y="11173968"/>
          <a:ext cx="13874496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4832"/>
                <a:gridCol w="4624832"/>
                <a:gridCol w="4624832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Attribute-embedded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'180mm Sander'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Brand inclusion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'BOSCH push drive'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209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Power source noted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'Cordless drill 20V'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Japanese-derived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'giri' → drill bit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Typo /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'gyeongrang monkey'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Set / compound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'glue gun &amp; refill'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Metadata / 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'(1) hand saw'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A1A2A"/>
                          </a:solidFill>
                          <a:latin typeface="Calibri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30352" y="14410944"/>
            <a:ext cx="13874496" cy="411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14456664"/>
            <a:ext cx="13691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1A3A6B"/>
                </a:solidFill>
                <a:latin typeface="Calibri"/>
              </a:rPr>
              <a:t>Research Contributions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14932152"/>
            <a:ext cx="137281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① Rigorous evaluation framework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   Strict separation of retrieval knowledge base from ground-truth evaluation set,    eliminating the train/test data leakage present in prior work (RAG v1).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② Improved RAG pipeline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   Four targeted enhancements: Korean-specialized embedding, BM25+FAISS hybrid    retrieval, expanded candidate pool (k=15), and category-augmented prompting.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③ Comparative LLM benchmark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   12 open-source LLMs (1.5B–9B) evaluated under both baseline and improved    configurations on a real-world Korean dirty-data corpus.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08352" y="7562088"/>
            <a:ext cx="13874496" cy="594360"/>
          </a:xfrm>
          <a:prstGeom prst="rect">
            <a:avLst/>
          </a:prstGeom>
          <a:solidFill>
            <a:srgbClr val="2E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118080" y="7635240"/>
            <a:ext cx="13655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2. MATERIALS &amp; METHODS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08352" y="8266176"/>
            <a:ext cx="13874496" cy="411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99792" y="8311896"/>
            <a:ext cx="13691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1A3A6B"/>
                </a:solidFill>
                <a:latin typeface="Calibri"/>
              </a:rPr>
              <a:t>2.1 Dataset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5008352.0" y="8750808"/>
          <a:ext cx="1387449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7248"/>
                <a:gridCol w="693724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Seoul Tool Rental Open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Raw records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11,525 rental entries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Unique dirty 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3,352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Standard categories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Avg. variants /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~21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Ground-truth pairs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457 (manually curated)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15008352" y="11603736"/>
            <a:ext cx="13874496" cy="411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99792" y="11649456"/>
            <a:ext cx="13691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1A3A6B"/>
                </a:solidFill>
                <a:latin typeface="Calibri"/>
              </a:rPr>
              <a:t>2.2 RAG Architecture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5008352.0" y="12088368"/>
          <a:ext cx="13874496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4832"/>
                <a:gridCol w="4624832"/>
                <a:gridCol w="4624832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Improved (★)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MiniLM-L12  (384-dim)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BGE-m3-ko  (1024-dim)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FAISS only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BM25 (40%) + FAISS (60%)  ★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Candidates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15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+ Category injection  ★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Knowledge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160 standard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160 standard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Eval set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457 GT pairs (separated)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457 GT pairs (separated)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5081504" y="14868144"/>
            <a:ext cx="13728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Hybrid score = 0.4 × BM25_norm + 0.6 × FAISS_cosine_norm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BM25 tokenizer: Korean syllable unigram + bigram  (e.g., '경랑몽키' → ['경','랑','몽','키','경랑','랑몽','몽키'])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08352" y="15873984"/>
            <a:ext cx="13874496" cy="411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099792" y="15919704"/>
            <a:ext cx="13691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1A3A6B"/>
                </a:solidFill>
                <a:latin typeface="Calibri"/>
              </a:rPr>
              <a:t>2.3 Models Evaluated  (12 total)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15008352.0" y="16358616"/>
          <a:ext cx="1387449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4832"/>
                <a:gridCol w="4624832"/>
                <a:gridCol w="4624832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80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Gemma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gemma3:4b, gemma4:e2b, gemma4:e4b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4B / 2B / 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Granite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granite4.1:3b, granite4.1:8b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3B / 8B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EXAONE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exaone3.5:2.4b, exaone3.5:7.8b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2.4B / 7.8B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DeepSeek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deepseek-r1:1.5b, deepseek-r1:8b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1.5B / 8B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Qwen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qwen3.5:9b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A1A2A"/>
                          </a:solidFill>
                          <a:latin typeface="Calibri"/>
                        </a:rPr>
                        <a:t>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5081504" y="18809208"/>
            <a:ext cx="137281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Hardware:  NVIDIA RTX 5080 (17.1 GB VRAM)  |  Ollama (local GPU inference)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Embedding: GPU-accelerated batch processing (3,352 queries → ~10 sec)</a:t>
            </a:r>
          </a:p>
          <a:p>
            <a:pPr algn="l">
              <a:spcBef>
                <a:spcPts val="200"/>
              </a:spcBef>
            </a:pPr>
            <a:r>
              <a:rPr sz="1800">
                <a:solidFill>
                  <a:srgbClr val="1A1A2A"/>
                </a:solidFill>
                <a:latin typeface="Calibri"/>
              </a:rPr>
              <a:t>Metrics:   Accuracy (exact match)  |  Fallback rate  |  Speed (items/sec)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486352" y="7562088"/>
            <a:ext cx="13874496" cy="594360"/>
          </a:xfrm>
          <a:prstGeom prst="rect">
            <a:avLst/>
          </a:prstGeom>
          <a:solidFill>
            <a:srgbClr val="2E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96080" y="7635240"/>
            <a:ext cx="13655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3.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86352" y="8266176"/>
            <a:ext cx="13874496" cy="411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577792" y="8311896"/>
            <a:ext cx="13691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1A3A6B"/>
                </a:solidFill>
                <a:latin typeface="Calibri"/>
              </a:rPr>
              <a:t>3.1 Overall Performance (12 models)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9486352.0" y="8750808"/>
          <a:ext cx="13874496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416"/>
                <a:gridCol w="2312416"/>
                <a:gridCol w="2312416"/>
                <a:gridCol w="2312416"/>
                <a:gridCol w="2312416"/>
                <a:gridCol w="2312416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Fallback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gemma4:e4b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88.47%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1.58/s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gemma3:4b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84.48%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1.77/s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granite4.1:8b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82.48%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1.21/s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gemma4:e2b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80.93%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1.93/s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exaone3.5:7.8b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79.16%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1.23/s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deepseek-r1:1.5b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78.05%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85.2%*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1.49/s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deepseek-r1:8b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77.83%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1.40/s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exaone3.5:2.4b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74.06%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13.6%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1.58/s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granite4.1:3b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67.85%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20.8%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1.53/s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deepseek-r1:8b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55.21%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1.96/s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granite4.1:8b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55.21%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1.26/s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qwen3.5:9b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A1A2A"/>
                          </a:solidFill>
                          <a:latin typeface="Calibri"/>
                        </a:rPr>
                        <a:t>1.31/s</a:t>
                      </a:r>
                    </a:p>
                  </a:txBody>
                  <a:tcPr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29486352" y="13834872"/>
            <a:ext cx="13874496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96080" y="13880592"/>
            <a:ext cx="1365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>
                <a:solidFill>
                  <a:srgbClr val="7D4200"/>
                </a:solidFill>
                <a:latin typeface="Calibri"/>
              </a:rPr>
              <a:t>⚠  RAG v1 (prior work) reported 97.88% — inflated by data leakage (eval pairs directly in retrieval DB). RAG v2 eliminates this flaw.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486352" y="14520672"/>
            <a:ext cx="13874496" cy="41148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577792" y="14566392"/>
            <a:ext cx="1369161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i="0">
                <a:solidFill>
                  <a:srgbClr val="1A3A6B"/>
                </a:solidFill>
                <a:latin typeface="Calibri"/>
              </a:rPr>
              <a:t>3.2 Key Findings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59504" y="15023592"/>
            <a:ext cx="137281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① Model size does NOT predict RAG performance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gemma3:4b (3.3 GB) &gt; exaone3.5:7.8b (4.8 GB)  →  84.5% vs. 79.2%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deepseek-r1:1.5b (1.1 GB) achieves 78% — comparable to 8B models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② All four improvements contribute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BGE-m3-ko: captures Korean morphology ('경랑몽키' → 'monkey wrench')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BM25 hybrid: recovers lexical signals missed by pure vector search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k=15: granite4.1:8b fallback  14.9% → 5.0%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Category injection: improves disambiguation of near-synonym tools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③ Fallback rate as instruction-following proxy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deepseek-r1:1.5b: 85.2% → format compliance failure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Top-3 models: 5–8% → acceptable for production deployment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④ Speed — all top-9 models: &lt; 50 min / 3,352 items on RTX 5080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   (vs. 1–13 h on Mac Mini M1 CPU in prior work)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4780240"/>
            <a:ext cx="27651456" cy="8046720"/>
          </a:xfrm>
          <a:prstGeom prst="rect">
            <a:avLst/>
          </a:prstGeom>
          <a:solidFill>
            <a:srgbClr val="FDFDFF"/>
          </a:solidFill>
          <a:ln w="9525">
            <a:solidFill>
              <a:srgbClr val="C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291536" y="24780240"/>
            <a:ext cx="15233904" cy="8046720"/>
          </a:xfrm>
          <a:prstGeom prst="rect">
            <a:avLst/>
          </a:prstGeom>
          <a:solidFill>
            <a:srgbClr val="FDFDFF"/>
          </a:solidFill>
          <a:ln w="9525">
            <a:solidFill>
              <a:srgbClr val="C0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0352" y="24871680"/>
            <a:ext cx="27322272" cy="594360"/>
          </a:xfrm>
          <a:prstGeom prst="rect">
            <a:avLst/>
          </a:prstGeom>
          <a:solidFill>
            <a:srgbClr val="2E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24944832"/>
            <a:ext cx="271028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4. CONCLUSION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5557480"/>
            <a:ext cx="27139392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Summary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A RAG pipeline with four targeted improvements raises accuracy from ~55% (baseline) to 88.47% (gemma4:e4b), a +33.3 pp gain on a rigorous, leakage-free benchmark. Domain-optimized retrieval architecture outweighs raw model scale — compact models (3–4 GB) match or exceed 8B counterparts in this task. Local open-source LLMs provide a privacy-safe, cost-effective alternative to cloud APIs for domain-specific categorical data standardization.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Limitations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· Ground-truth coverage: 457 / 3,352 = 13.6%  (evaluation may not fully represent the full dirty-data distribution)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· Models &gt;17B parameters: impractical on a single RTX 5080 (CPU offload reduces speed to ~0.03 items/s)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· deepseek-r1:1.5b: 85.2% fallback rate limits practical applicability despite 78% accuracy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Future Work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① Large-model evaluation (32B+) with quantization or multi-GPU inference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② Full ground-truth expansion to all 3,352 records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③ Human-in-the-Loop for low-confidence predictions (ambiguous compounds, set items)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④ Fine-tuning vs. RAG comparison on domain-specific tool name data</a:t>
            </a:r>
          </a:p>
          <a:p>
            <a:pPr algn="l">
              <a:spcBef>
                <a:spcPts val="200"/>
              </a:spcBef>
            </a:pPr>
            <a:r>
              <a:rPr sz="1900">
                <a:solidFill>
                  <a:srgbClr val="1A1A2A"/>
                </a:solidFill>
                <a:latin typeface="Calibri"/>
              </a:rPr>
              <a:t>  ⑤ Generalization to other dirty categorical domains (ICD medical codes, e-commerce SKUs, HR job titles)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456128" y="24871680"/>
            <a:ext cx="14904720" cy="594360"/>
          </a:xfrm>
          <a:prstGeom prst="rect">
            <a:avLst/>
          </a:prstGeom>
          <a:solidFill>
            <a:srgbClr val="2E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565856" y="24944832"/>
            <a:ext cx="1468526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47568" y="25557480"/>
            <a:ext cx="1472184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[1] Zhang &amp; Huang (2024). Data Cleaning Using LLMs. arXiv:2410.15547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[2] Glock &amp; Korom (2025). Detecting Errors in Contact Info with LLMs. VLDB WS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[3] Amugongo et al. (2025). RAG for LLMs in Healthcare. PLOS Digital Health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[4] Ovadia et al. (2023). Fine-Tuning or Retrieval? arXiv:2312.05934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[5] Hwang et al. (2025). Domain-Specific Embedding for Korean. arXiv:2502.07131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[6] Belcak et al. (2025). Small LMs are Future of Agentic AI. arXiv:2506.02153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[7] Kim et al. (2003). A Taxonomy of Dirty Data. Data Mining &amp; KD, 7, 81–99</a:t>
            </a:r>
          </a:p>
          <a:p>
            <a:pPr algn="l">
              <a:spcBef>
                <a:spcPts val="200"/>
              </a:spcBef>
            </a:pPr>
            <a:r>
              <a:rPr sz="1700">
                <a:solidFill>
                  <a:srgbClr val="1A1A2A"/>
                </a:solidFill>
                <a:latin typeface="Calibri"/>
              </a:rPr>
              <a:t>[8] Wong et al. (2025). PolyNorm: Few-Shot Text Normalization. arXiv:2511.03080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